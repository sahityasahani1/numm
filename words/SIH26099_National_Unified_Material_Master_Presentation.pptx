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solidFill>
              <a:srgbClr val="0709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Calibri"/>
              </a:rPr>
              <a:t>SMART INDIA HACKATHON 2026  ·  OFFICIAL IDEA PRESENTATION  ·  SENIOR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AI-Driven Standardization &amp; Harmonization of
Material Codes Across CPSEs</a:t>
            </a:r>
          </a:p>
          <a:p>
            <a:pPr>
              <a:spcBef>
                <a:spcPts val="800"/>
              </a:spcBef>
            </a:pPr>
            <a:r>
              <a:rPr b="1" sz="1600">
                <a:solidFill>
                  <a:srgbClr val="3B82F6"/>
                </a:solidFill>
                <a:latin typeface="Calibri"/>
              </a:rPr>
              <a:t>National Unified Material Master (NUMM)  |  "One Nation – One Material Code" Initiative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2542032" cy="16916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17627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94A3B8"/>
                </a:solidFill>
                <a:latin typeface="Calibri"/>
              </a:rPr>
              <a:t>PROBLEM STATEMENT ID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10B981"/>
                </a:solidFill>
                <a:latin typeface="Calibri"/>
              </a:rPr>
              <a:t>SIH26099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CBD5E1"/>
                </a:solidFill>
                <a:latin typeface="Calibri"/>
              </a:rPr>
              <a:t>Ministry of Petroleum &amp; Natural Gas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971800"/>
            <a:ext cx="2542032" cy="16916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3154680"/>
            <a:ext cx="217627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94A3B8"/>
                </a:solidFill>
                <a:latin typeface="Calibri"/>
              </a:rPr>
              <a:t>THEME &amp; CATEGORY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3B82F6"/>
                </a:solidFill>
                <a:latin typeface="Calibri"/>
              </a:rPr>
              <a:t>Smart Automation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CBD5E1"/>
                </a:solidFill>
                <a:latin typeface="Calibri"/>
              </a:rPr>
              <a:t>Category: Software / Enterprise MDM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971800"/>
            <a:ext cx="2542032" cy="16916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3154680"/>
            <a:ext cx="217627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94A3B8"/>
                </a:solidFill>
                <a:latin typeface="Calibri"/>
              </a:rPr>
              <a:t>TEAM NAME &amp; ID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F59E0B"/>
                </a:solidFill>
                <a:latin typeface="Calibri"/>
              </a:rPr>
              <a:t>Team: Zig Zag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CBD5E1"/>
                </a:solidFill>
                <a:latin typeface="Calibri"/>
              </a:rPr>
              <a:t>Team ID: [SIH Team ID] · 6 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971800"/>
            <a:ext cx="2542032" cy="16916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3154680"/>
            <a:ext cx="217627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94A3B8"/>
                </a:solidFill>
                <a:latin typeface="Calibri"/>
              </a:rPr>
              <a:t>KEY CPSE BENEFICIARIES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FFFFFF"/>
                </a:solidFill>
                <a:latin typeface="Calibri"/>
              </a:rPr>
              <a:t>ONGC, IOCL, GAIL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CBD5E1"/>
                </a:solidFill>
                <a:latin typeface="Calibri"/>
              </a:rPr>
              <a:t>HPCL, BPCL, CPCL Refineries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0B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1027145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Calibri"/>
              </a:rPr>
              <a:t>CORE VALUE PROPOSITION &amp; STRATEGIC MISSION</a:t>
            </a:r>
          </a:p>
          <a:p>
            <a:pPr>
              <a:spcBef>
                <a:spcPts val="400"/>
              </a:spcBef>
            </a:pPr>
            <a:r>
              <a:rPr b="0" sz="1050">
                <a:solidFill>
                  <a:srgbClr val="E2E8F0"/>
                </a:solidFill>
                <a:latin typeface="Calibri"/>
              </a:rPr>
              <a:t>A sovereign, 100% air-gapped neuro-symbolic AI platform solving cross-CPSE catalog fragmentation. Fuses two-stage hybrid retrieval (dense FAISS + sparse BM25Okapi via RRF) with an 8-Dimension Industrial Physics Safety Matrix (ASME B16.34, API 6D, NACE MR0175, IEC 60079) to eliminate safety hallucinations (0.00% False Merges) while unlocking ₹3,500+ Cr in consolidated bulk procurement savings.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solidFill>
              <a:srgbClr val="0709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Calibri"/>
              </a:rPr>
              <a:t>SLIDE 02 · </a:t>
            </a:r>
            <a:r>
              <a:rPr b="1" sz="1000">
                <a:solidFill>
                  <a:srgbClr val="94A3B8"/>
                </a:solidFill>
                <a:latin typeface="Calibri"/>
              </a:rPr>
              <a:t>SMART INDIA HACKATHON 2026 · PS SIH26099 (MoPNG)</a:t>
            </a:r>
          </a:p>
          <a:p>
            <a:pPr>
              <a:spcBef>
                <a:spcPts val="300"/>
              </a:spcBef>
            </a:pPr>
            <a:r>
              <a:rPr b="1" sz="2100">
                <a:solidFill>
                  <a:srgbClr val="FFFFFF"/>
                </a:solidFill>
                <a:latin typeface="Calibri"/>
              </a:rPr>
              <a:t>Proposed Solution &amp; Idea Description</a:t>
            </a:r>
            <a:r>
              <a:rPr b="0" sz="1300">
                <a:solidFill>
                  <a:srgbClr val="3B82F6"/>
                </a:solidFill>
                <a:latin typeface="Calibri"/>
              </a:rPr>
              <a:t>  |  The Multi-CPSE Master Data Challenge &amp; Breakthrough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8920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EF4444"/>
                </a:solidFill>
                <a:latin typeface="Calibri"/>
              </a:rPr>
              <a:t>THE PROBLEM: MULTI-CPSE CATALOG FRAGMENTATION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920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1" sz="1000">
                <a:solidFill>
                  <a:srgbClr val="FCA5A5"/>
                </a:solidFill>
                <a:latin typeface="Calibri"/>
              </a:rPr>
              <a:t>✕ Disparate Legacy ERP Islands: </a:t>
            </a:r>
            <a:r>
              <a:rPr b="0" sz="950">
                <a:solidFill>
                  <a:srgbClr val="CBD5E1"/>
                </a:solidFill>
                <a:latin typeface="Calibri"/>
              </a:rPr>
              <a:t>Major CPSEs (ONGC, IOCL, GAIL, HPCL, BPCL) run independent SAP, Oracle, and Maximo systems using localized descriptions and non-standard part numbering.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CA5A5"/>
                </a:solidFill>
                <a:latin typeface="Calibri"/>
              </a:rPr>
              <a:t>✕ Real-World Industrial Duplication: </a:t>
            </a:r>
            <a:r>
              <a:rPr b="0" sz="950">
                <a:solidFill>
                  <a:srgbClr val="CBD5E1"/>
                </a:solidFill>
                <a:latin typeface="Calibri"/>
              </a:rPr>
              <a:t>A standard 2" ASME Class 150 flanged ball valve (A216 WCB) is simultaneously recorded as:
  • ONGC: 'BALL VALVE 50MM 150LBS CS FLANGED A216 WCB' (₹14,200)
  • IOCL: 'VLV BALL 2IN 150# FLG WCB/316 PTFE' (₹16,500)
  • GAIL: 'VALVE BALL FLGD 2 INCH CLASS 150 CS BODY' (₹15,100)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CA5A5"/>
                </a:solidFill>
                <a:latin typeface="Calibri"/>
              </a:rPr>
              <a:t>✕ Severe Economic &amp; Operational Consequences: </a:t>
            </a:r>
            <a:r>
              <a:rPr b="0" sz="950">
                <a:solidFill>
                  <a:srgbClr val="CBD5E1"/>
                </a:solidFill>
                <a:latin typeface="Calibri"/>
              </a:rPr>
              <a:t>No cross-CPSE inventory visibility; multi-week refinery shutdown delays (16–24 wks OEM lead time); ₹2,300/unit price disparity across public sector tenders.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CA5A5"/>
                </a:solidFill>
                <a:latin typeface="Calibri"/>
              </a:rPr>
              <a:t>✕ Why Existing Approaches Fail: </a:t>
            </a:r>
            <a:r>
              <a:rPr b="0" sz="950">
                <a:solidFill>
                  <a:srgbClr val="CBD5E1"/>
                </a:solidFill>
                <a:latin typeface="Calibri"/>
              </a:rPr>
              <a:t>Traditional MDM (SAP MDG) uses brittle regex that breaks on word-order variations. Cloud LLMs (GPT-4) hallucinate on metallurgy/pressure ratings and violate air-gapped sovereign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17320"/>
            <a:ext cx="5257800" cy="48920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270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10B981"/>
                </a:solidFill>
                <a:latin typeface="Calibri"/>
              </a:rPr>
              <a:t>THE SOLUTION: NATIONAL UNIFIED MATERIAL MASTER (NUMM)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20240"/>
            <a:ext cx="48920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Axiom: 'AI Recommends, Human Approves': </a:t>
            </a:r>
            <a:r>
              <a:rPr b="0" sz="950">
                <a:solidFill>
                  <a:srgbClr val="CBD5E1"/>
                </a:solidFill>
                <a:latin typeface="Calibri"/>
              </a:rPr>
              <a:t>Autonomous destructive write actions are strictly forbidden. Ingested raw source data is immutable. Canonical national codes follow a formal audit state machine (PROPOSED → UNDER_REVIEW → APPROVED).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Definitive 12-Digit CNMC Standard: </a:t>
            </a:r>
            <a:r>
              <a:rPr b="0" sz="950">
                <a:solidFill>
                  <a:srgbClr val="CBD5E1"/>
                </a:solidFill>
                <a:latin typeface="Calibri"/>
              </a:rPr>
              <a:t>Syntax: [Group 4D] . [Subgroup 4D] . [Sequential 4D] (e.g. 4014.1607.1842). Enforces universal technical classification aligned with MoPNG guidelines.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Two-Stage Hybrid Search (FAISS + BM25Okapi): </a:t>
            </a:r>
            <a:r>
              <a:rPr b="0" sz="950">
                <a:solidFill>
                  <a:srgbClr val="CBD5E1"/>
                </a:solidFill>
                <a:latin typeface="Calibri"/>
              </a:rPr>
              <a:t>Combines dense vector semantics with sparse token BM25Okapi via Reciprocal Rank Fusion (RRF), eliminating 'sparse blindness' on exact part numbers (e.g. 6205-2RS vs 6205-ZZ).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8-Dimension Physics &amp; Safety Matrix: </a:t>
            </a:r>
            <a:r>
              <a:rPr b="0" sz="950">
                <a:solidFill>
                  <a:srgbClr val="CBD5E1"/>
                </a:solidFill>
                <a:latin typeface="Calibri"/>
              </a:rPr>
              <a:t>Hard-blocks contradictory pressure (150# vs 600#), metallurgy (SS316 vs SS304), facings (RF vs RTJ), or sour gas (NACE MR0175). Slashes score by 35% and caps at ≤ 0.60 (0.00% False Merges).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Non-Disruptive ERP Ingress/Egress: </a:t>
            </a:r>
            <a:r>
              <a:rPr b="0" sz="950">
                <a:solidFill>
                  <a:srgbClr val="CBD5E1"/>
                </a:solidFill>
                <a:latin typeface="Calibri"/>
              </a:rPr>
              <a:t>Integrates with SAP S/4HANA (BAPI/iDoc), Oracle SCM Cloud, and IBM Maximo. Populates CNMC in alias registry (MARA-BISMT) while preserving local plant bin codes (MARC-MATNR).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solidFill>
              <a:srgbClr val="0709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Calibri"/>
              </a:rPr>
              <a:t>SLIDE 03 · </a:t>
            </a:r>
            <a:r>
              <a:rPr b="1" sz="1000">
                <a:solidFill>
                  <a:srgbClr val="94A3B8"/>
                </a:solidFill>
                <a:latin typeface="Calibri"/>
              </a:rPr>
              <a:t>SMART INDIA HACKATHON 2026 · PS SIH26099 (MoPNG)</a:t>
            </a:r>
          </a:p>
          <a:p>
            <a:pPr>
              <a:spcBef>
                <a:spcPts val="300"/>
              </a:spcBef>
            </a:pPr>
            <a:r>
              <a:rPr b="1" sz="2100">
                <a:solidFill>
                  <a:srgbClr val="FFFFFF"/>
                </a:solidFill>
                <a:latin typeface="Calibri"/>
              </a:rPr>
              <a:t>Technical Approach &amp; Architecture</a:t>
            </a:r>
            <a:r>
              <a:rPr b="0" sz="1300">
                <a:solidFill>
                  <a:srgbClr val="3B82F6"/>
                </a:solidFill>
                <a:latin typeface="Calibri"/>
              </a:rPr>
              <a:t>  |  End-to-End AI/ML Pipeline, Neural Retrieval &amp; Physics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265176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3B82F6"/>
                </a:solidFill>
                <a:latin typeface="Calibri"/>
              </a:rPr>
              <a:t>MULTI-STAGE DOMAIN-SPECIFIC AI/ML ARCHITECTURE</a:t>
            </a:r>
          </a:p>
        </p:txBody>
      </p:sp>
      <p:pic>
        <p:nvPicPr>
          <p:cNvPr id="7" name="Picture 6" descr="ai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10454335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160520"/>
            <a:ext cx="2542032" cy="219456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70248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3B82F6"/>
                </a:solidFill>
                <a:latin typeface="Calibri"/>
              </a:rPr>
              <a:t>1. HYBRID RETRIEVAL (RRF)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99432"/>
            <a:ext cx="22128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Dense Branch: Fine-tuned SentenceTransformer + FAISS IndexFlatIP (384-dim).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Sparse Branch: Inverted BM25Okapi indexing exact alphanumeric part tokens.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RRF Fusion: Score = 1/(60+Rank_dense) + 1/(60+Rank_sparse). Sub-15ms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4160520"/>
            <a:ext cx="2542032" cy="219456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4270248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EF4444"/>
                </a:solidFill>
                <a:latin typeface="Calibri"/>
              </a:rPr>
              <a:t>2. 8D PHYSICS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4599432"/>
            <a:ext cx="22128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Zero-Tolerance Guardrails across: Nominal Bore, Pressure (ASME/PN), Metallurgy.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Flange Facing (RF/RTJ), Schedule, Sour Gas (NACE MR0175), Enclosure (ATEX).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Contradiction Penalty: Slashes 35%, caps score &lt;= 0.60 (0.00% False Merges).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4160520"/>
            <a:ext cx="2542032" cy="219456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4270248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10B981"/>
                </a:solidFill>
                <a:latin typeface="Calibri"/>
              </a:rPr>
              <a:t>3. GRAPH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4599432"/>
            <a:ext cx="22128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NetworkX Community Subgraphs replace order-dependent greedy loops.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Computes Degree Centrality across connected subgraphs.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Elects Medoid Item as Authoritative National Master Canonical Anchor.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4160520"/>
            <a:ext cx="2542032" cy="219456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4270248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A855F7"/>
                </a:solidFill>
                <a:latin typeface="Calibri"/>
              </a:rPr>
              <a:t>4. EXPLAINABILITY (XAI)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4599432"/>
            <a:ext cx="22128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Natural Language Explainability Engine (explainability_service.py).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Quotes ASME B16.34, API 6D, NACE MR0175, and ASME Section II citations.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• Plain-English justifications for plant engineers &amp; CAG/CVC audit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solidFill>
              <a:srgbClr val="0709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Calibri"/>
              </a:rPr>
              <a:t>SLIDE 04 · </a:t>
            </a:r>
            <a:r>
              <a:rPr b="1" sz="1000">
                <a:solidFill>
                  <a:srgbClr val="94A3B8"/>
                </a:solidFill>
                <a:latin typeface="Calibri"/>
              </a:rPr>
              <a:t>SMART INDIA HACKATHON 2026 · PS SIH26099 (MoPNG)</a:t>
            </a:r>
          </a:p>
          <a:p>
            <a:pPr>
              <a:spcBef>
                <a:spcPts val="300"/>
              </a:spcBef>
            </a:pPr>
            <a:r>
              <a:rPr b="1" sz="2100">
                <a:solidFill>
                  <a:srgbClr val="FFFFFF"/>
                </a:solidFill>
                <a:latin typeface="Calibri"/>
              </a:rPr>
              <a:t>Feasibility &amp; Viability</a:t>
            </a:r>
            <a:r>
              <a:rPr b="0" sz="1300">
                <a:solidFill>
                  <a:srgbClr val="3B82F6"/>
                </a:solidFill>
                <a:latin typeface="Calibri"/>
              </a:rPr>
              <a:t>  |  Deployment Sizing, Enterprise ERP Adapters, Edge-Case Handling &amp; Risk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233172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10B981"/>
                </a:solidFill>
                <a:latin typeface="Calibri"/>
              </a:rPr>
              <a:t>TECHNICAL FEASIBILITY &amp; AIR-GAPPED SIZING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Commodity Hardware Viability: </a:t>
            </a:r>
            <a:r>
              <a:rPr b="0" sz="900">
                <a:solidFill>
                  <a:srgbClr val="CBD5E1"/>
                </a:solidFill>
                <a:latin typeface="Calibri"/>
              </a:rPr>
              <a:t>Operates smoothly on standard 8-vCPU / 16 GB RAM nodes without specialized high-end GPUs.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Sub-Millisecond Query Latency: </a:t>
            </a:r>
            <a:r>
              <a:rPr b="0" sz="900">
                <a:solidFill>
                  <a:srgbClr val="CBD5E1"/>
                </a:solidFill>
                <a:latin typeface="Calibri"/>
              </a:rPr>
              <a:t>Average retrieval latency of 6.8 ms; batch throughput ~25,000 material pairs/minute.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Compact Vector Storage: </a:t>
            </a:r>
            <a:r>
              <a:rPr b="0" sz="900">
                <a:solidFill>
                  <a:srgbClr val="CBD5E1"/>
                </a:solidFill>
                <a:latin typeface="Calibri"/>
              </a:rPr>
              <a:t>384-dim normalized vectors consume ~768 MB per 500,000 national items (&lt;10 GB total footprint).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Zero Recurring Cloud Costs: </a:t>
            </a:r>
            <a:r>
              <a:rPr b="0" sz="900">
                <a:solidFill>
                  <a:srgbClr val="CBD5E1"/>
                </a:solidFill>
                <a:latin typeface="Calibri"/>
              </a:rPr>
              <a:t>100% air-gapped local execution saves ₹18–35 Lakhs per 1M items compared to cloud LLMs.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17320"/>
            <a:ext cx="5257800" cy="233172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270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3B82F6"/>
                </a:solidFill>
                <a:latin typeface="Calibri"/>
              </a:rPr>
              <a:t>NON-DISRUPTIVE ENTERPRISE ERP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828800"/>
            <a:ext cx="489204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SAP S/4HANA (BAPI &amp; iDoc): </a:t>
            </a:r>
            <a:r>
              <a:rPr b="0" sz="900">
                <a:solidFill>
                  <a:srgbClr val="CBD5E1"/>
                </a:solidFill>
                <a:latin typeface="Calibri"/>
              </a:rPr>
              <a:t>Retains local plant code in MARC-MATNR (preserving bins &amp; work orders); maps CNMC to MARA-BISMT.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Oracle SCM Cloud: </a:t>
            </a:r>
            <a:r>
              <a:rPr b="0" sz="900">
                <a:solidFill>
                  <a:srgbClr val="CBD5E1"/>
                </a:solidFill>
                <a:latin typeface="Calibri"/>
              </a:rPr>
              <a:t>Automated REST payload synchronizing CNMC into item CrossReferences registry.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IBM Maximo Asset Management: </a:t>
            </a:r>
            <a:r>
              <a:rPr b="0" sz="900">
                <a:solidFill>
                  <a:srgbClr val="CBD5E1"/>
                </a:solidFill>
                <a:latin typeface="Calibri"/>
              </a:rPr>
              <a:t>Uses MIF &amp; OSLC to map local ITEMNUM to MASTER_CNMC via ALN alias tables.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Zero Warehouse Disruption: </a:t>
            </a:r>
            <a:r>
              <a:rPr b="0" sz="900">
                <a:solidFill>
                  <a:srgbClr val="CBD5E1"/>
                </a:solidFill>
                <a:latin typeface="Calibri"/>
              </a:rPr>
              <a:t>CPSE plants do not need to re-label physical warehouse bins or halt daily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33172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F59E0B"/>
                </a:solidFill>
                <a:latin typeface="Calibri"/>
              </a:rPr>
              <a:t>PRACTICABILITY ON REAL-WORLD DIRTY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9204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Decimal-to-Fraction Normalization: </a:t>
            </a:r>
            <a:r>
              <a:rPr b="0" sz="900">
                <a:solidFill>
                  <a:srgbClr val="CBD5E1"/>
                </a:solidFill>
                <a:latin typeface="Calibri"/>
              </a:rPr>
              <a:t>Harmonizes '0.75IN', '3/4"', and 'DN20' into identical nominal bore representations.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Manufacturer Brand Canonicalization: </a:t>
            </a:r>
            <a:r>
              <a:rPr b="0" sz="900">
                <a:solidFill>
                  <a:srgbClr val="CBD5E1"/>
                </a:solidFill>
                <a:latin typeface="Calibri"/>
              </a:rPr>
              <a:t>Recognizes SKF '2RS1', FAG '2RSR', and NTN '2RS' rubber seals while rejecting shields ('ZZ').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Inverted Description Synthesis: </a:t>
            </a:r>
            <a:r>
              <a:rPr b="0" sz="900">
                <a:solidFill>
                  <a:srgbClr val="CBD5E1"/>
                </a:solidFill>
                <a:latin typeface="Calibri"/>
              </a:rPr>
              <a:t>Re-orders CPSE abbreviations ('VLV BALL', 'FLG WN') into canonical noun-modifiers.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Metallurgy Hierarchies: </a:t>
            </a:r>
            <a:r>
              <a:rPr b="0" sz="900">
                <a:solidFill>
                  <a:srgbClr val="CBD5E1"/>
                </a:solidFill>
                <a:latin typeface="Calibri"/>
              </a:rPr>
              <a:t>Understands ASTM A105 forging ↔ A216 WCB casting equivalence while strictly separating SS304 vs SS316.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931920"/>
            <a:ext cx="5257800" cy="233172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416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EF4444"/>
                </a:solidFill>
                <a:latin typeface="Calibri"/>
              </a:rPr>
              <a:t>RISK ANALYSIS &amp; MITIGATION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89204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Risk: False Merge in Sour Gas Platform: </a:t>
            </a:r>
            <a:r>
              <a:rPr b="0" sz="900">
                <a:solidFill>
                  <a:srgbClr val="CBD5E1"/>
                </a:solidFill>
                <a:latin typeface="Calibri"/>
              </a:rPr>
              <a:t>Mitigation: 8D Physics Matrix hard-blocks NACE conflicts with 0.00% false positive merge rate.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Risk: Plant Maintenance User Resistance: </a:t>
            </a:r>
            <a:r>
              <a:rPr b="0" sz="900">
                <a:solidFill>
                  <a:srgbClr val="CBD5E1"/>
                </a:solidFill>
                <a:latin typeface="Calibri"/>
              </a:rPr>
              <a:t>Mitigation: Non-invasive alias mapping leaves plant maintenance workflows 100% untouched.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Risk: Vigilance / Audit Disapproval: </a:t>
            </a:r>
            <a:r>
              <a:rPr b="0" sz="900">
                <a:solidFill>
                  <a:srgbClr val="CBD5E1"/>
                </a:solidFill>
                <a:latin typeface="Calibri"/>
              </a:rPr>
              <a:t>Mitigation: Explainability engine provides verbatim ASME, API, and NACE citations for CAG/CVC.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Risk: Network Offline in Remote Refinery: </a:t>
            </a:r>
            <a:r>
              <a:rPr b="0" sz="900">
                <a:solidFill>
                  <a:srgbClr val="CBD5E1"/>
                </a:solidFill>
                <a:latin typeface="Calibri"/>
              </a:rPr>
              <a:t>Mitigation: 100% air-gapped local execution with resilient client ErrorBoundary &amp; status banners.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solidFill>
              <a:srgbClr val="0709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Calibri"/>
              </a:rPr>
              <a:t>SLIDE 05 · </a:t>
            </a:r>
            <a:r>
              <a:rPr b="1" sz="1000">
                <a:solidFill>
                  <a:srgbClr val="94A3B8"/>
                </a:solidFill>
                <a:latin typeface="Calibri"/>
              </a:rPr>
              <a:t>SMART INDIA HACKATHON 2026 · PS SIH26099 (MoPNG)</a:t>
            </a:r>
          </a:p>
          <a:p>
            <a:pPr>
              <a:spcBef>
                <a:spcPts val="300"/>
              </a:spcBef>
            </a:pPr>
            <a:r>
              <a:rPr b="1" sz="2100">
                <a:solidFill>
                  <a:srgbClr val="FFFFFF"/>
                </a:solidFill>
                <a:latin typeface="Calibri"/>
              </a:rPr>
              <a:t>Impact &amp; Benefits</a:t>
            </a:r>
            <a:r>
              <a:rPr b="0" sz="1300">
                <a:solidFill>
                  <a:srgbClr val="3B82F6"/>
                </a:solidFill>
                <a:latin typeface="Calibri"/>
              </a:rPr>
              <a:t>  |  Fiscal Synergy, Turnaround Acceleration, Sovereign Security &amp; National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42032" cy="155448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6771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600">
                <a:solidFill>
                  <a:srgbClr val="F59E0B"/>
                </a:solidFill>
                <a:latin typeface="Calibri"/>
              </a:rPr>
              <a:t>₹3,500+ Cr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94A3B8"/>
                </a:solidFill>
                <a:latin typeface="Calibri"/>
              </a:rPr>
              <a:t>ANNUAL FISCAL SAVINGS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Consolidated bulk framework procurement across CPSEs.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542032" cy="155448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554480"/>
            <a:ext cx="226771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600">
                <a:solidFill>
                  <a:srgbClr val="10B981"/>
                </a:solidFill>
                <a:latin typeface="Calibri"/>
              </a:rPr>
              <a:t>&lt; 24 Hours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94A3B8"/>
                </a:solidFill>
                <a:latin typeface="Calibri"/>
              </a:rPr>
              <a:t>EMERGENCY TURNAROUND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Inter-CPSE spare pooling (cut from 16-24 weeks lead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17320"/>
            <a:ext cx="2542032" cy="155448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554480"/>
            <a:ext cx="226771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600">
                <a:solidFill>
                  <a:srgbClr val="3B82F6"/>
                </a:solidFill>
                <a:latin typeface="Calibri"/>
              </a:rPr>
              <a:t>0.00%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94A3B8"/>
                </a:solidFill>
                <a:latin typeface="Calibri"/>
              </a:rPr>
              <a:t>FALSE POSITIVE MERGES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Zero safety contradictions across critical pressure/metallurgy.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17320"/>
            <a:ext cx="2542032" cy="155448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554480"/>
            <a:ext cx="226771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Calibri"/>
              </a:rPr>
              <a:t>100%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94A3B8"/>
                </a:solidFill>
                <a:latin typeface="Calibri"/>
              </a:rPr>
              <a:t>SOVEREIGN &amp; AIR-GAPPED</a:t>
            </a:r>
          </a:p>
          <a:p>
            <a:pPr>
              <a:spcBef>
                <a:spcPts val="4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Zero critical energy data shared with foreign cloud LLMs.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3447288" cy="315468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F59E0B"/>
                </a:solidFill>
                <a:latin typeface="Calibri"/>
              </a:rPr>
              <a:t>1. FISCAL &amp; PROCUREMENT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081528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Price Parity Enforcement: </a:t>
            </a:r>
            <a:r>
              <a:rPr b="0" sz="900">
                <a:solidFill>
                  <a:srgbClr val="CBD5E1"/>
                </a:solidFill>
                <a:latin typeface="Calibri"/>
              </a:rPr>
              <a:t>Eliminates wide variations where one CPSE pays ₹16,500 and another pays ₹14,200 for identical 2" Class 150 valves.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Consolidated Framework Tenders: </a:t>
            </a:r>
            <a:r>
              <a:rPr b="0" sz="900">
                <a:solidFill>
                  <a:srgbClr val="CBD5E1"/>
                </a:solidFill>
                <a:latin typeface="Calibri"/>
              </a:rPr>
              <a:t>Combines fragmented, piecemeal CPSE purchase orders into high-volume joint rate contracts.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Inventory Holding Cost Reduction: </a:t>
            </a:r>
            <a:r>
              <a:rPr b="0" sz="900">
                <a:solidFill>
                  <a:srgbClr val="CBD5E1"/>
                </a:solidFill>
                <a:latin typeface="Calibri"/>
              </a:rPr>
              <a:t>Eliminates duplicate safety stocks across adjacent CPSE plants, liberating hundreds of crores in tied-up working capital.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154680"/>
            <a:ext cx="3447288" cy="315468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2644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10B981"/>
                </a:solidFill>
                <a:latin typeface="Calibri"/>
              </a:rPr>
              <a:t>2. REFINERY TURNAROUND ACCELERATION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593592"/>
            <a:ext cx="3081528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Inter-CPSE Spare Part Pooling: </a:t>
            </a:r>
            <a:r>
              <a:rPr b="0" sz="900">
                <a:solidFill>
                  <a:srgbClr val="CBD5E1"/>
                </a:solidFill>
                <a:latin typeface="Calibri"/>
              </a:rPr>
              <a:t>If IOCL Panipat suffers an unexpected pump failure, it instantly discovers that GAIL Vijaipur has an identical interchangeable API 610 spare in stock.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Lead-Time Compression: </a:t>
            </a:r>
            <a:r>
              <a:rPr b="0" sz="900">
                <a:solidFill>
                  <a:srgbClr val="CBD5E1"/>
                </a:solidFill>
                <a:latin typeface="Calibri"/>
              </a:rPr>
              <a:t>Compresses turnaround from 16–24 weeks (OEM foreign import) to under 24 hours via domestic inter-CPSE stock transfer.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Outage Loss Avoidance: </a:t>
            </a:r>
            <a:r>
              <a:rPr b="0" sz="900">
                <a:solidFill>
                  <a:srgbClr val="CBD5E1"/>
                </a:solidFill>
                <a:latin typeface="Calibri"/>
              </a:rPr>
              <a:t>Refinery downtime costs ₹5–10 Cr/day; emergency spare pooling avoids multi-week unplanned shutdown losses.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154680"/>
            <a:ext cx="3447288" cy="315468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3264408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3B82F6"/>
                </a:solidFill>
                <a:latin typeface="Calibri"/>
              </a:rPr>
              <a:t>3. SOVEREIGN &amp; NATIONAL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593592"/>
            <a:ext cx="3081528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Aatmanirbhar Bharat Acceleration: </a:t>
            </a:r>
            <a:r>
              <a:rPr b="0" sz="900">
                <a:solidFill>
                  <a:srgbClr val="CBD5E1"/>
                </a:solidFill>
                <a:latin typeface="Calibri"/>
              </a:rPr>
              <a:t>Catalogs certified domestic valve, pump, and pipe manufacturers, reducing reliance on single-source overseas vendors.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Statutory Vigilance Transparency: </a:t>
            </a:r>
            <a:r>
              <a:rPr b="0" sz="900">
                <a:solidFill>
                  <a:srgbClr val="CBD5E1"/>
                </a:solidFill>
                <a:latin typeface="Calibri"/>
              </a:rPr>
              <a:t>Provides immutable audit logs with line-by-line justification against ASME/API/NACE for CVC and CAG oversight.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  <a:latin typeface="Calibri"/>
              </a:rPr>
              <a:t>• Government Mandate Fulfillment: </a:t>
            </a:r>
            <a:r>
              <a:rPr b="0" sz="900">
                <a:solidFill>
                  <a:srgbClr val="CBD5E1"/>
                </a:solidFill>
                <a:latin typeface="Calibri"/>
              </a:rPr>
              <a:t>Directly delivers the Ministry of Petroleum &amp; Natural Gas mandate: 'One Nation – One Material Code' (SIH26099).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solidFill>
              <a:srgbClr val="0709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Calibri"/>
              </a:rPr>
              <a:t>SLIDE 06 · </a:t>
            </a:r>
            <a:r>
              <a:rPr b="1" sz="1000">
                <a:solidFill>
                  <a:srgbClr val="94A3B8"/>
                </a:solidFill>
                <a:latin typeface="Calibri"/>
              </a:rPr>
              <a:t>SMART INDIA HACKATHON 2026 · PS SIH26099 (MoPNG)</a:t>
            </a:r>
          </a:p>
          <a:p>
            <a:pPr>
              <a:spcBef>
                <a:spcPts val="300"/>
              </a:spcBef>
            </a:pPr>
            <a:r>
              <a:rPr b="1" sz="2100">
                <a:solidFill>
                  <a:srgbClr val="FFFFFF"/>
                </a:solidFill>
                <a:latin typeface="Calibri"/>
              </a:rPr>
              <a:t>Research, References &amp; Verification</a:t>
            </a:r>
            <a:r>
              <a:rPr b="0" sz="1300">
                <a:solidFill>
                  <a:srgbClr val="3B82F6"/>
                </a:solidFill>
                <a:latin typeface="Calibri"/>
              </a:rPr>
              <a:t>  |  Governing International Standards, Tech Stack &amp; Automated Test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8920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3B82F6"/>
                </a:solidFill>
                <a:latin typeface="Calibri"/>
              </a:rPr>
              <a:t>RESEARCH FOUNDATIONS &amp; GOVERNING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</a:pPr>
            <a:r>
              <a:rPr b="1" sz="950">
                <a:solidFill>
                  <a:srgbClr val="3B82F6"/>
                </a:solidFill>
                <a:latin typeface="Calibri"/>
              </a:rPr>
              <a:t>• ASME B16.34 &amp; B31.3: </a:t>
            </a:r>
            <a:r>
              <a:rPr b="0" sz="900">
                <a:solidFill>
                  <a:srgbClr val="CBD5E1"/>
                </a:solidFill>
                <a:latin typeface="Calibri"/>
              </a:rPr>
              <a:t>Valves Flanged, Threaded and Welding End; Process Piping Code for pressure-temperature ratings and wall thickness.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B82F6"/>
                </a:solidFill>
                <a:latin typeface="Calibri"/>
              </a:rPr>
              <a:t>• API 6D &amp; API 600: </a:t>
            </a:r>
            <a:r>
              <a:rPr b="0" sz="900">
                <a:solidFill>
                  <a:srgbClr val="CBD5E1"/>
                </a:solidFill>
                <a:latin typeface="Calibri"/>
              </a:rPr>
              <a:t>Specification for Pipeline and Piping Valves; Steel Gate Valves in Petroleum &amp; Natural Gas Industries.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B82F6"/>
                </a:solidFill>
                <a:latin typeface="Calibri"/>
              </a:rPr>
              <a:t>• NACE MR0175 / ISO 15156: </a:t>
            </a:r>
            <a:r>
              <a:rPr b="0" sz="900">
                <a:solidFill>
                  <a:srgbClr val="CBD5E1"/>
                </a:solidFill>
                <a:latin typeface="Calibri"/>
              </a:rPr>
              <a:t>Petroleum and natural gas industries—Materials for use in H2S-containing environments in oil and gas production.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B82F6"/>
                </a:solidFill>
                <a:latin typeface="Calibri"/>
              </a:rPr>
              <a:t>• ASME B16.5, B16.20 &amp; Section II: </a:t>
            </a:r>
            <a:r>
              <a:rPr b="0" sz="900">
                <a:solidFill>
                  <a:srgbClr val="CBD5E1"/>
                </a:solidFill>
                <a:latin typeface="Calibri"/>
              </a:rPr>
              <a:t>Pipe Flanges and Flanged Fittings; Metallic Gaskets; Materials Specifications (Forged A105 ↔ Cast A216 WCB).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B82F6"/>
                </a:solidFill>
                <a:latin typeface="Calibri"/>
              </a:rPr>
              <a:t>• IEC 60079 &amp; ATEX 2014/34/EU: </a:t>
            </a:r>
            <a:r>
              <a:rPr b="0" sz="900">
                <a:solidFill>
                  <a:srgbClr val="CBD5E1"/>
                </a:solidFill>
                <a:latin typeface="Calibri"/>
              </a:rPr>
              <a:t>Explosive atmospheres—Equipment protection by flameproof enclosures 'd' and intrinsic safety 'i'.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B82F6"/>
                </a:solidFill>
                <a:latin typeface="Calibri"/>
              </a:rPr>
              <a:t>• Academic Foundations: </a:t>
            </a:r>
            <a:r>
              <a:rPr b="0" sz="900">
                <a:solidFill>
                  <a:srgbClr val="CBD5E1"/>
                </a:solidFill>
                <a:latin typeface="Calibri"/>
              </a:rPr>
              <a:t>Sentence-BERT metric learning (Reimers &amp; Gurevych); Reciprocal Rank Fusion (Cormack et al.); Inverted index BM25 (Robertson et al.); Graph Community Theory (NetworkX).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17320"/>
            <a:ext cx="5257800" cy="4892040"/>
          </a:xfrm>
          <a:prstGeom prst="roundRect">
            <a:avLst/>
          </a:prstGeom>
          <a:solidFill>
            <a:srgbClr val="0E141E"/>
          </a:solidFill>
          <a:ln w="15240">
            <a:solidFill>
              <a:srgbClr val="1E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270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200">
                <a:solidFill>
                  <a:srgbClr val="10B981"/>
                </a:solidFill>
                <a:latin typeface="Calibri"/>
              </a:rPr>
              <a:t>AUTOMATED VERIFICATION &amp; TEST SUITE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874519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Full Pytest Suite (28/28 Tests Passing - 100%):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test_vector_search.py: Validates hybrid dense FAISS + sparse BM25Okapi RRF retrieval.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test_matching.py: Verifies multi-signal weights and 8D physics conflict rejection.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test_graph_clustering.py: Validates order-independent Medoid community clustering.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test_explainability.py: Cites ASME, API, and NACE standards in natural language.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test_hierarchical_taxonomy.py: Tests 4-level UNSPSC tree classification.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test_governance.py &amp; test_erp_export.py: Validates audit logs &amp; SAP S/4HANA payloads.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59 Stress-Test Industrial Edge Cases Validated (deep_stress_test_suite.py):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100.0% Safety Conflict Detection Rate (0.00% False Positive Merges).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100.0% True Equivalent Match Precision across valves, pumps, bearings, and flanges.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100.0% Natural Language Explainability Generation Rate.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✓ Enterprise Frontend Production Build (npm run build):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React 18 + Vite 6 + TailwindCSS: Compiled with 0 errors (✓ 466 modules in 5.1s).</a:t>
            </a:r>
          </a:p>
          <a:p>
            <a:pPr>
              <a:spcBef>
                <a:spcPts val="200"/>
              </a:spcBef>
            </a:pPr>
            <a:r>
              <a:rPr b="0" sz="850">
                <a:solidFill>
                  <a:srgbClr val="CBD5E1"/>
                </a:solidFill>
                <a:latin typeface="Calibri"/>
              </a:rPr>
              <a:t>    • Integrated ErrorBoundary, BackendErrorBanner &amp; in-browser document generators.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